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58A2B"/>
                </a:solidFill>
                <a:latin typeface="Georgia"/>
              </a:defRPr>
            </a:pPr>
            <a:r>
              <a:t>MAJOR PROJECT PRESENTATION</a:t>
            </a:r>
          </a:p>
          <a:p>
            <a:pPr algn="ctr">
              <a:defRPr sz="3600" b="1">
                <a:solidFill>
                  <a:srgbClr val="54351F"/>
                </a:solidFill>
                <a:latin typeface="Georgia"/>
              </a:defRPr>
            </a:pPr>
            <a:r>
              <a:t>JNTU CIRCLE (ANDHRA CIRCLE)</a:t>
            </a:r>
          </a:p>
          <a:p>
            <a:pPr algn="ctr">
              <a:defRPr sz="1700" i="1">
                <a:solidFill>
                  <a:srgbClr val="795548"/>
                </a:solidFill>
                <a:latin typeface="Georgia"/>
              </a:defRPr>
            </a:pPr>
            <a:r>
              <a:t>A Unified Academic Resource Ecosystem &amp; Smart University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108960"/>
            <a:ext cx="34134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3383280"/>
            <a:ext cx="761969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b="1" sz="1300">
                <a:solidFill>
                  <a:srgbClr val="54351F"/>
                </a:solidFill>
              </a:defRPr>
            </a:pPr>
            <a:r>
              <a:t>Presented by:</a:t>
            </a:r>
          </a:p>
          <a:p>
            <a:pPr algn="ctr">
              <a:defRPr sz="1400" b="1">
                <a:solidFill>
                  <a:srgbClr val="212B36"/>
                </a:solidFill>
              </a:defRPr>
            </a:pPr>
            <a:r>
              <a:t>Department of Artificial Intelligence and Machine Learning</a:t>
            </a:r>
          </a:p>
          <a:p>
            <a:pPr algn="ctr">
              <a:defRPr sz="1300">
                <a:solidFill>
                  <a:srgbClr val="795548"/>
                </a:solidFill>
              </a:defRPr>
            </a:pPr>
            <a:r>
              <a:t>M.S. Engineering College</a:t>
            </a:r>
          </a:p>
          <a:p>
            <a:pPr algn="ctr">
              <a:defRPr sz="1100" i="1">
                <a:solidFill>
                  <a:srgbClr val="64748B"/>
                </a:solidFill>
              </a:defRPr>
            </a:pPr>
            <a:r>
              <a:t>Technology Stack: React 19 • Node.js • Express • MongoDB • JNTUA Automated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Flow of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1.  Abstract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Core summary, problem context &amp; system overview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2.  Introduction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Collegiate engineering ecosystem &amp; student challenges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3.  Problem Statement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Resource fragmentation &amp; critical information gaps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4.  Literature Review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Comparative analysis against existing platforms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5.  Proposed System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MERN architecture &amp; modular resource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6.  System Architecture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Decoupled 3-tier client-server microservices flow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7.  Key Features &amp; Demonstration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Unit notes, JNTU GPA calc, live notice daemon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8.  Implementation &amp; Progress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Database schema, REST controllers &amp; security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9.  Future Scope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AI question paper analysis &amp; RAG study tutor</a:t>
            </a:r>
          </a:p>
          <a:p>
            <a:pPr>
              <a:spcAft>
                <a:spcPts val="200"/>
              </a:spcAft>
              <a:defRPr sz="2000" b="1">
                <a:solidFill>
                  <a:srgbClr val="54351F"/>
                </a:solidFill>
                <a:latin typeface="Georgia"/>
              </a:defRPr>
            </a:pPr>
            <a:r>
              <a:t>10. Conclusion</a:t>
            </a:r>
          </a:p>
          <a:p>
            <a:pPr>
              <a:spcAft>
                <a:spcPts val="14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    Project impact &amp; academic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EXECUTIVE SUMMARY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Abstract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The Core Challenge &amp; Motivation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Collegiate engineering education requires access to syllabus-specific lecture notes, previous papers, and fast notifications.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Existing materials are fragmented across ad-heavy websites, informal group chats, and outdated shared folders.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Lack of unit-by-unit modularity forces students to search through massive textbook PDFs before midterm exams.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JNTU Circle was conceptualized as a dedicated, open-access intelligence portal tailored to university curricula (R19, R20, R23).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The Solution &amp; Architectural Highlights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Full-Stack MERN Architecture: Built using React 19, Vite, Node.js, Express.js, and MongoDB Atlas.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Autonomous Background Sync: Real-time worker parses official JNTUA examination APIs and extracts verified B.Tech circulars.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Academic Intelligence Suite: University-accurate 10-point SGPA/CGPA grade calculators &amp; 75% attendance trackers.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Collaborative Hub: Unit-level PDF viewer, community upload workflows with admin verification, and peer comments.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CONTEXT &amp; VISION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Engineering Academic Landscape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Standardized curricula across 150+ affiliated engineering colleges following JNTU regulations.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Fast-paced semesters demanding quick turnaround for midterms, lab evaluations, and university finals.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High stakes: Missing a university examination registration or revaluation notification directly affects academic standing.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Multi-disciplinary scope: Tailored support for AIML, CSE, ECE, MECH, and CIVIL departments.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Platform Vision &amp; Objectives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Centralization: Single digital destination for Notes, Question Papers, Lab Manuals, Syllabi, and Exam Alerts.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Unit Granularity: Break monolithic study materials into manageable Units 1 through 5 for targeted exam revision.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Reliability &amp; Speed: Sub-100ms client interactions, zero intrusive advertisements, and verified academic accuracy.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Student Empowerment: Built with an intuitive command bar, glassmorphism design tokens, and mobile-first responsiveness.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IDENTIFIED INEFFICIENCIES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Critical Academic Pain Points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Material Fragmentation: Academic resources are scattered across random Google Drive links, Telegram channels, and paper handouts.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Information Noise in Exam Notices: University websites bundle postgraduate, pharmacy, and administrative notices in one congested list.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Deadlines Missed: Students miss critical examination registration, fee payment, and challenge evaluation deadlines.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File Bulk: Downloading 200MB scanned textbooks on mobile devices wastes bandwidth and study preparation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Evaluation &amp; Collaboration Deficits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Inaccurate GPA Calculation: Commercial GPA tools do not support JNTU's specific 10-point scale (O:10 to F:0) or branch credit weights.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Attendance Tracking Gap: Students cannot easily calculate how many lectures they can safely miss to stay above the 75% university rule.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No Verification Mechanism: Community notes on social media are unvetted and often contain syllabus inaccuracies.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Disjointed Lab Resources: Lab manuals lack code snippets, execution outputs, and viva questions in a single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5/12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COMPARATIVE BENCHMARK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Literature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645920"/>
          <a:ext cx="1036289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920240"/>
                <a:gridCol w="1920240"/>
                <a:gridCol w="1920240"/>
                <a:gridCol w="2133295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5435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Official Portals</a:t>
                      </a:r>
                    </a:p>
                  </a:txBody>
                  <a:tcPr>
                    <a:solidFill>
                      <a:srgbClr val="5435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Commercial Portals</a:t>
                      </a:r>
                    </a:p>
                  </a:txBody>
                  <a:tcPr>
                    <a:solidFill>
                      <a:srgbClr val="5435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Social Media Groups</a:t>
                      </a:r>
                    </a:p>
                  </a:txBody>
                  <a:tcPr>
                    <a:solidFill>
                      <a:srgbClr val="5435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Proposed JNTU Circle</a:t>
                      </a:r>
                    </a:p>
                  </a:txBody>
                  <a:tcPr>
                    <a:solidFill>
                      <a:srgbClr val="C58A2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Regulation Filtering (R20/R23)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Partial / Cluttered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No / Generic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Scattered / Unindexed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4351F"/>
                          </a:solidFill>
                          <a:latin typeface="Arial"/>
                        </a:defRPr>
                      </a:pPr>
                      <a:r>
                        <a:t>✅ Native Regulation Tags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Unit-Wise Notes (Units 1-5)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Not Provided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Mixed / Paywalled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Broken Drive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4351F"/>
                          </a:solidFill>
                          <a:latin typeface="Arial"/>
                        </a:defRPr>
                      </a:pPr>
                      <a:r>
                        <a:t>✅ Dedicated Unit Modularity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Live University Notice Sync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Raw PDF Circulars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Manual Forwarding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4351F"/>
                          </a:solidFill>
                          <a:latin typeface="Arial"/>
                        </a:defRPr>
                      </a:pPr>
                      <a:r>
                        <a:t>✅ Autonomous Sync Daemon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Academic GPA / SGPA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Generic Percentages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4351F"/>
                          </a:solidFill>
                          <a:latin typeface="Arial"/>
                        </a:defRPr>
                      </a:pPr>
                      <a:r>
                        <a:t>✅ Official JNTU 10-Pt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In-Browser PDF Document Reader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Download Only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Paywalled Viewer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B36"/>
                          </a:solidFill>
                          <a:latin typeface="Arial"/>
                        </a:defRPr>
                      </a:pPr>
                      <a:r>
                        <a:t>Third-Party App Needed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4351F"/>
                          </a:solidFill>
                          <a:latin typeface="Arial"/>
                        </a:defRPr>
                      </a:pPr>
                      <a:r>
                        <a:t>✅ Native Zero-Install Reader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METHODOLOGY &amp; CORE PILLARS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Proposed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Three-Tier Functional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Tier 1: Curated Academic Repository — Indexed unit notes (Units 1 to 5), university question papers, lab manuals, and syllabi.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Tier 2: Background Sync Daemon (`jntuaSyncService`) — Automated worker polling university endpoints, filtering B.Tech circulars, and updating MongoDB.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Tier 3: Academic Intelligence &amp; Calculation Engine — Regulation-compliant SGPA/CGPA formulas and automated attendance compliance algorithms.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Tier 4: Student Hub &amp; Administrative Governance — Discussion threads, heart-burst likes, community submissions, and moderation queues.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Key Engineering Innovations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Granular PDF Streaming: Micro-chunked unit delivery so students access only what they need, saving mobile data.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Autonomous Scraping Pipeline: Eliminates manual administrative overhead in republishing official university circulars.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Strict JNTU Grade Point Modeling: O (10), A+ (9), A (8), B+ (7), B (6), C (5), P (4), F (0) with semester-wise presets.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Role-Based Access Control (RBAC): Admin review panel ensuring verified academic quality before public release.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7/12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END-TO-END MICROSERVICES FLOW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54351F"/>
                </a:solidFill>
                <a:latin typeface="Georgia"/>
              </a:defRPr>
            </a:pPr>
            <a:r>
              <a:t>Presentation Layer</a:t>
            </a:r>
          </a:p>
          <a:p>
            <a:pPr>
              <a:spcAft>
                <a:spcPts val="1200"/>
              </a:spcAft>
              <a:defRPr sz="1100" b="1">
                <a:solidFill>
                  <a:srgbClr val="C58A2B"/>
                </a:solidFill>
                <a:latin typeface="Arial"/>
              </a:defRPr>
            </a:pPr>
            <a:r>
              <a:t>React 19 + Vite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JntuChatbot Command Bar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Faceted Branch &amp; Semester Filters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Embedded PDF Document Viewer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SGPA/CGPA &amp; Attendance Calculator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Admin Management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54351F"/>
                </a:solidFill>
                <a:latin typeface="Georgia"/>
              </a:defRPr>
            </a:pPr>
            <a:r>
              <a:t>Application Layer</a:t>
            </a:r>
          </a:p>
          <a:p>
            <a:pPr>
              <a:spcAft>
                <a:spcPts val="1200"/>
              </a:spcAft>
              <a:defRPr sz="1100" b="1">
                <a:solidFill>
                  <a:srgbClr val="C58A2B"/>
                </a:solidFill>
                <a:latin typeface="Arial"/>
              </a:defRPr>
            </a:pPr>
            <a:r>
              <a:t>Node.js &amp; Express REST API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JWT Authentication &amp; Role Guards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Resource Controllers (CRUD)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Multer Multipart Upload Pipeline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Automated JNTUA Sync Daemon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Rate Limiting &amp; Error Handlers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54351F"/>
                </a:solidFill>
                <a:latin typeface="Georgia"/>
              </a:defRPr>
            </a:pPr>
            <a:r>
              <a:t>Data &amp; Services Layer</a:t>
            </a:r>
          </a:p>
          <a:p>
            <a:pPr>
              <a:spcAft>
                <a:spcPts val="1200"/>
              </a:spcAft>
              <a:defRPr sz="1100" b="1">
                <a:solidFill>
                  <a:srgbClr val="C58A2B"/>
                </a:solidFill>
                <a:latin typeface="Arial"/>
              </a:defRPr>
            </a:pPr>
            <a:r>
              <a:t>MongoDB Atlas &amp; External APIs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MongoDB Atlas Collections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Static Uploads Document Storage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Official University API Endpoint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B.Tech Regex Filter Engine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  <a:latin typeface="Arial"/>
              </a:defRPr>
            </a:pPr>
            <a:r>
              <a:t>• Indexed Query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8/12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CORE CAPABILITIES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Key Features &amp; Demonstration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Academic Resource Management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Unit 1 to 5 Modular Notes: Displays individual module syllabi, downloadable PDFs, and view counters.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Integrated PDF Document Reader: Read notes directly inside the browser with navigation controls.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Autonomous JNTUA Notification Sync: Scrapes official exams API, isolates B.Tech circulars, and extracts Drive/PDF links.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Executable Lab Manuals: Code snippets, sample test cases, outputs, and viva questions for laboratory exams.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Student Intelligence &amp; Community Tools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Regulation-Compliant GPA Calculator: Preloaded subject credits for AIML, CSE, ECE, MECH, and CIVIL branches.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Attendance Compliance Analyzer: Real-time calculation of safe leaves based on the 75% university rule.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Interactive Student Profile &amp; Reports: Cumulative semester progression table with distinction and rank indicators.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Community Contributions: Students can upload notes with admin moderation queue ensuring academic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9/12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TECHNICAL DELIVERABLES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Implementation &amp;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Backend &amp; Database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8 Mongoose Models: User, Note, Paper, Syllabus, Notification, LabProgram, Comment, and UserMaterial.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10 REST Controllers: Complete CRUD APIs handling file streams, queries, authentication, and stats.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Automated Daemon Service: Cron-like sync service with error fallback handling and duplicate prevention.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Security Implementation: Salted password hashing using bcryptjs and stateless JWT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Frontend Engineering &amp; UI Metrics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Modern Component Architecture: 40+ modular components and pages built with React 19 and Vite.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CSS Token Design System: Polished glassmorphic aesthetics, fluid responsive layouts, and zero external UI bloat.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Interactive Visual Feedback: Heart-burst physics like animations and animated modal dialogs.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Comprehensive Validation: Tested across mobile, tablet, and desktop environments with sub-100ms load 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ROADMAP &amp; ENHANCEMENTS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AI &amp; Machine Learning Extensions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NLP Question Paper Trend Analyzer: Analyze 5-year past question papers to predict high-probability questions per unit.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RAG-Based AI Study Tutor: Ingest verified unit notes into a localized vector database to provide instant doubt resolution.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Automated Result Aggregator: Scrape semester grade sheets directly via student university hall ticket numbers.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Automated Audio Summaries: Convert text modules into concise 5-minute audio revision podcasts.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Ecosystem &amp; Platform Scaling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WhatsApp &amp; Mobile Push Notifications: Alert students instantly when exam fee circulars or timetables are released.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Multi-University Taxonomy: Generalize database taxonomy to support sister institutions (JNTUK, JNTUH, AU, SVU).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Faculty Evaluation Portal: Allow college professors to upload verified lecture slides and conduct quizzes.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PWA &amp; Offline Mode: Cache visited lecture modules offline using Service Workers for zero-connectivity study.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11/12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10362895" cy="9144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000" b="1">
                <a:solidFill>
                  <a:srgbClr val="C58A2B"/>
                </a:solidFill>
                <a:latin typeface="Georgia"/>
              </a:defRPr>
            </a:pPr>
            <a:r>
              <a:t>FINAL ASSESSMENT</a:t>
            </a:r>
          </a:p>
          <a:p>
            <a:pPr algn="ctr">
              <a:defRPr sz="2600" b="1">
                <a:solidFill>
                  <a:srgbClr val="54351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53312"/>
            <a:ext cx="1584655" cy="36576"/>
          </a:xfrm>
          <a:prstGeom prst="rect">
            <a:avLst/>
          </a:prstGeom>
          <a:solidFill>
            <a:srgbClr val="C5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Project Achievements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Successfully Engineered: Built and verified JNTU Circle as a complete academic resource and intelligence ecosystem.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Eliminated Search Overhead: Transformed hours of scattered resource hunting into single-click branch filtering.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Automated University Notice Delivery: Ensured zero missed exam registration or revaluation deadlines.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Verified Academic Compliance: Provided students with regulation-accurate calculation tools for four-year degree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0020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4351F"/>
                </a:solidFill>
                <a:latin typeface="Georgia"/>
              </a:defRPr>
            </a:pPr>
            <a:r>
              <a:t>Key Learnings &amp; Impact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Practical Full-Stack Mastery: Hands-on implementation of decoupled MERN architecture, REST APIs, and daemons.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Real-World Student Value: Solved an authentic, widespread challenge experienced across university engineering colleges.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Scalable &amp; Extensible: Designed with modular architectures ready for future AI/ML analytics integrations.</a:t>
            </a:r>
          </a:p>
          <a:p>
            <a:pPr>
              <a:spcAft>
                <a:spcPts val="800"/>
              </a:spcAft>
              <a:defRPr sz="1200">
                <a:solidFill>
                  <a:srgbClr val="212B36"/>
                </a:solidFill>
                <a:latin typeface="Arial"/>
              </a:defRPr>
            </a:pPr>
            <a:r>
              <a:t>•  Demonstrated Engineering Excellence: Proves how clean web engineering directly enhances higher education workflows.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1460175" cy="6217920"/>
          </a:xfrm>
          <a:prstGeom prst="rect">
            <a:avLst/>
          </a:prstGeom>
          <a:noFill/>
          <a:ln w="19050">
            <a:solidFill>
              <a:srgbClr val="B8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" y="374904"/>
            <a:ext cx="11350447" cy="6108192"/>
          </a:xfrm>
          <a:prstGeom prst="rect">
            <a:avLst/>
          </a:prstGeom>
          <a:noFill/>
          <a:ln w="9525">
            <a:solidFill>
              <a:srgbClr val="DA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23620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795548"/>
                </a:solidFill>
                <a:latin typeface="Georgia"/>
              </a:defRPr>
            </a:pPr>
            <a:r>
              <a:t>Department of Artificial Intelligence and Machine Learning, MS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362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4351F"/>
                </a:solidFill>
                <a:latin typeface="Georgia"/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2000" i="1">
                <a:solidFill>
                  <a:srgbClr val="795548"/>
                </a:solidFill>
                <a:latin typeface="Georgia"/>
              </a:defRPr>
            </a:pPr>
            <a:r>
              <a:t>Questions &amp; Discussions are Welcome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291840"/>
            <a:ext cx="6705295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D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/>
          <a:lstStyle/>
          <a:p>
            <a:pPr algn="ctr">
              <a:defRPr sz="1400" b="1">
                <a:solidFill>
                  <a:srgbClr val="54351F"/>
                </a:solidFill>
                <a:latin typeface="Georgia"/>
              </a:defRPr>
            </a:pPr>
            <a:r>
              <a:t>Department of Artificial Intelligence and Machine Learning</a:t>
            </a:r>
          </a:p>
          <a:p>
            <a:pPr algn="ctr">
              <a:defRPr sz="1300">
                <a:solidFill>
                  <a:srgbClr val="795548"/>
                </a:solidFill>
                <a:latin typeface="Georgia"/>
              </a:defRPr>
            </a:pPr>
            <a:r>
              <a:t>M.S. Engineering College</a:t>
            </a:r>
          </a:p>
          <a:p>
            <a:pPr algn="ctr">
              <a:defRPr sz="1100" i="1">
                <a:solidFill>
                  <a:srgbClr val="64748B"/>
                </a:solidFill>
                <a:latin typeface="Arial"/>
              </a:defRPr>
            </a:pPr>
            <a:r>
              <a:t>Project: JNTU Circle (Andhra Circle) • MERN Full-Stack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